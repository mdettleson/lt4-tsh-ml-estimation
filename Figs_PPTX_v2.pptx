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8" r:id="rId2"/>
    <p:sldId id="279" r:id="rId3"/>
    <p:sldId id="280" r:id="rId4"/>
    <p:sldId id="281" r:id="rId5"/>
    <p:sldId id="282" r:id="rId6"/>
    <p:sldId id="283" r:id="rId7"/>
    <p:sldId id="284" r:id="rId8"/>
    <p:sldId id="28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3"/>
    <p:restoredTop sz="94552"/>
  </p:normalViewPr>
  <p:slideViewPr>
    <p:cSldViewPr snapToGrid="0">
      <p:cViewPr varScale="1">
        <p:scale>
          <a:sx n="115" d="100"/>
          <a:sy n="115" d="100"/>
        </p:scale>
        <p:origin x="3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 Ettleson" userId="e15e67f9-0c2a-4b6e-af93-fd03135052b0" providerId="ADAL" clId="{52F7073B-ECC0-585B-A872-C26D9B2E5124}"/>
    <pc:docChg chg="undo redo custSel addSld modSld">
      <pc:chgData name="Matt Ettleson" userId="e15e67f9-0c2a-4b6e-af93-fd03135052b0" providerId="ADAL" clId="{52F7073B-ECC0-585B-A872-C26D9B2E5124}" dt="2026-10-06T18:48:22.486" v="1299" actId="20577"/>
      <pc:docMkLst>
        <pc:docMk/>
      </pc:docMkLst>
      <pc:sldChg chg="addSp delSp modSp mod modNotesTx">
        <pc:chgData name="Matt Ettleson" userId="e15e67f9-0c2a-4b6e-af93-fd03135052b0" providerId="ADAL" clId="{52F7073B-ECC0-585B-A872-C26D9B2E5124}" dt="2026-10-06T18:48:22.486" v="1299" actId="20577"/>
        <pc:sldMkLst>
          <pc:docMk/>
          <pc:sldMk cId="3377402805" sldId="278"/>
        </pc:sldMkLst>
        <pc:spChg chg="mod topLvl">
          <ac:chgData name="Matt Ettleson" userId="e15e67f9-0c2a-4b6e-af93-fd03135052b0" providerId="ADAL" clId="{52F7073B-ECC0-585B-A872-C26D9B2E5124}" dt="2026-10-06T18:48:22.486" v="1299" actId="20577"/>
          <ac:spMkLst>
            <pc:docMk/>
            <pc:sldMk cId="3377402805" sldId="278"/>
            <ac:spMk id="28" creationId="{187603BF-5120-7D41-94D1-8F0AD2713EF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49AE3-DBC8-254E-9715-07320459F6EB}" type="datetimeFigureOut">
              <a:rPr lang="en-US" smtClean="0"/>
              <a:t>10/6/26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D38CA-246E-A04A-AF75-F9124FE8747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5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01</a:t>
            </a:r>
          </a:p>
          <a:p>
            <a:endParaRPr lang="en-US" dirty="0"/>
          </a:p>
          <a:p>
            <a:r>
              <a:rPr lang="en-US" dirty="0"/>
              <a:t>1. Excluded patients with a history of thyroid cancer and a history on non-LT4 thyroid hormone 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D38CA-246E-A04A-AF75-F9124FE8747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40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D38CA-246E-A04A-AF75-F9124FE8747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5176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03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D38CA-246E-A04A-AF75-F9124FE8747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04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D38CA-246E-A04A-AF75-F9124FE8747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768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Supplemental Figure 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D38CA-246E-A04A-AF75-F9124FE8747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0873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Supplemental Figure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D38CA-246E-A04A-AF75-F9124FE8747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047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Supplemental Figure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D38CA-246E-A04A-AF75-F9124FE8747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034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Supplemental Figure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1D38CA-246E-A04A-AF75-F9124FE8747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942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EC14A-710B-7860-08FF-13FD5C137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A708A5-003A-BBB6-2B9F-F5ACED8013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92E61-EA34-38CA-AA73-3107A01F4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8DE5-B052-2F49-9B18-740C9C6A1414}" type="datetimeFigureOut">
              <a:rPr lang="en-US" smtClean="0"/>
              <a:t>10/6/26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20E06-B7A6-115D-A46C-EB5B3A6BD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6F37DC-ED33-4477-05F5-4334FD90A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9316-5EB9-6149-A98D-A7CAC3B5ED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3371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F6DF9-FFDE-90E4-B51F-DC82B5F4E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C0D3F-3D29-1EFA-14D0-D67D166EF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03B1-A033-E64F-698D-208C9ED3F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8DE5-B052-2F49-9B18-740C9C6A1414}" type="datetimeFigureOut">
              <a:rPr lang="en-US" smtClean="0"/>
              <a:t>10/6/26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09295-1374-33B1-93B1-38AC904B6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79369-99F7-9F84-95E4-1601F2549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9316-5EB9-6149-A98D-A7CAC3B5ED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78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4DE70-A632-1073-75DA-776E6C71C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D12DDF-D668-FF12-6895-5C4C7EDFD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37EF6E-7C23-4B8B-38BF-3B7BAF3A6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8DE5-B052-2F49-9B18-740C9C6A1414}" type="datetimeFigureOut">
              <a:rPr lang="en-US" smtClean="0"/>
              <a:t>10/6/26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2A451-F9DC-859B-6ECB-B4A473EBA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CF863-0F74-A241-8094-039B39C8C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9316-5EB9-6149-A98D-A7CAC3B5ED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607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2E8F0-F844-B613-D624-F5C2AEAFA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DBFEA-C040-0E3C-A497-1DE086688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A91A2F-A059-3600-7733-18BB53AB17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B0B0B4-BEF1-3C24-B6DA-95196C6C9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8DE5-B052-2F49-9B18-740C9C6A1414}" type="datetimeFigureOut">
              <a:rPr lang="en-US" smtClean="0"/>
              <a:t>10/6/26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16213F-FA75-4F41-CB19-3B6E6032C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050444-711C-2164-B141-5050933FB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9316-5EB9-6149-A98D-A7CAC3B5ED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598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BD5AE-9126-3FEE-6DDF-D7EA2D713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967B2-9642-C17B-A604-2AE98B598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07D628-E05D-B6E2-9562-6A018E893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59A2F-40BE-0466-9193-346B2D509D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AFA943-E2DF-90B3-6BE5-9C4D50C7B5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0C05AC-83BB-B724-98CD-6378DDF10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8DE5-B052-2F49-9B18-740C9C6A1414}" type="datetimeFigureOut">
              <a:rPr lang="en-US" smtClean="0"/>
              <a:t>10/6/26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E171EE-7EF1-4EE6-C8BC-276EFEB43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D831BC-805D-EB03-262E-C4D695A4E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9316-5EB9-6149-A98D-A7CAC3B5ED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074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A3C06-43C1-C223-4CEB-344D66F09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152F3-C028-E136-356E-9E8D45F8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8DE5-B052-2F49-9B18-740C9C6A1414}" type="datetimeFigureOut">
              <a:rPr lang="en-US" smtClean="0"/>
              <a:t>10/6/26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9E410C-9D96-0E67-E101-7B4E44A8C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890585-2486-9F87-860B-E13E4D404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9316-5EB9-6149-A98D-A7CAC3B5ED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56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A18CA0-7C73-13D1-534B-173971177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8DE5-B052-2F49-9B18-740C9C6A1414}" type="datetimeFigureOut">
              <a:rPr lang="en-US" smtClean="0"/>
              <a:t>10/6/26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A50BE2-4CF5-F890-86D2-0F5B99015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DAE14-C5B8-82CA-2467-F2014E9D4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9316-5EB9-6149-A98D-A7CAC3B5ED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095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BDDB4-83C0-C8DE-6252-4B881A79C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DD1290-A686-ED5E-FBB1-6CC447813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0A9099-56B3-DEBC-8ECE-84B5308F0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111D5-F930-705A-CB66-DEB0938EF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8DE5-B052-2F49-9B18-740C9C6A1414}" type="datetimeFigureOut">
              <a:rPr lang="en-US" smtClean="0"/>
              <a:t>10/6/26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56B8B9-65FF-5A17-C360-327BB755A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42E7A9-36EA-12A9-64F3-4CC645E87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9316-5EB9-6149-A98D-A7CAC3B5ED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6602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DF2BD-8826-97EA-DF1D-5222F91B0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85C131-708D-F854-9D2F-059239310D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CA865A-117F-B274-AE4E-3BB5A5A4E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B5760-199E-AAE7-7B33-FD1C7F899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8DE5-B052-2F49-9B18-740C9C6A1414}" type="datetimeFigureOut">
              <a:rPr lang="en-US" smtClean="0"/>
              <a:t>10/6/26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E2C95-2FFB-543D-0BA6-0EB16C31D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68CEDD-9390-EC31-2C39-8F1DA1CF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9316-5EB9-6149-A98D-A7CAC3B5ED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9299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9A36A-FC27-08B8-D812-A7F03D595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E30617-19C9-A1CB-128C-D26CACE3F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197235-60B1-A37B-EBD1-52AB6341A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8DE5-B052-2F49-9B18-740C9C6A1414}" type="datetimeFigureOut">
              <a:rPr lang="en-US" smtClean="0"/>
              <a:t>10/6/26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CC556-6056-ACDD-07B4-3A64666E6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AB2CF2-6A5B-E6F3-EB1C-676FEF935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9316-5EB9-6149-A98D-A7CAC3B5ED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643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21B7B8-4CF7-F850-1699-510362CD0E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74EE67-E0B4-0D55-1E1E-93AE846FD3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30B48-89BC-88EC-1DE0-340989DA2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98DE5-B052-2F49-9B18-740C9C6A1414}" type="datetimeFigureOut">
              <a:rPr lang="en-US" smtClean="0"/>
              <a:t>10/6/26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8982F-08EA-7B09-8B07-64B13DFDC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57C4F-5F83-7F20-85C6-AA8782CB8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A9316-5EB9-6149-A98D-A7CAC3B5ED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633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3807D4-7BF5-671C-DFCB-ADC6E879D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7DC2F-354B-5AA1-99C9-75477A307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713EC-3B8D-5338-ACE2-FFEEC92FAC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98DE5-B052-2F49-9B18-740C9C6A1414}" type="datetimeFigureOut">
              <a:rPr lang="en-US" smtClean="0"/>
              <a:t>10/6/26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F6F9E-547C-55A3-FD9A-8C0F8BADAB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49C9F-5BC8-3CEF-AAEF-0FB0C455D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EA9316-5EB9-6149-A98D-A7CAC3B5ED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106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562D62-0AF8-8543-B6EC-7D4BBE9530AD}"/>
                  </a:ext>
                </a:extLst>
              </p:cNvPr>
              <p:cNvSpPr txBox="1"/>
              <p:nvPr/>
            </p:nvSpPr>
            <p:spPr>
              <a:xfrm>
                <a:off x="4336135" y="1213755"/>
                <a:ext cx="3894001" cy="76944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Patients with hypothyroidism, aged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18 years, with a TSH collection between 6 weeks and 1 year after an LT4 order</a:t>
                </a:r>
              </a:p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(2008 – 2023)</a:t>
                </a:r>
              </a:p>
              <a:p>
                <a:pPr algn="ctr"/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n = 12,842 patients</a:t>
                </a:r>
                <a:r>
                  <a:rPr lang="en-US" sz="1100" baseline="30000" dirty="0"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US" sz="110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3562D62-0AF8-8543-B6EC-7D4BBE953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6135" y="1213755"/>
                <a:ext cx="3894001" cy="769441"/>
              </a:xfrm>
              <a:prstGeom prst="rect">
                <a:avLst/>
              </a:prstGeom>
              <a:blipFill>
                <a:blip r:embed="rId3"/>
                <a:stretch>
                  <a:fillRect b="-322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0DCE473-10F5-2743-9171-D1CE0E8C669C}"/>
              </a:ext>
            </a:extLst>
          </p:cNvPr>
          <p:cNvSpPr txBox="1"/>
          <p:nvPr/>
        </p:nvSpPr>
        <p:spPr>
          <a:xfrm>
            <a:off x="5544459" y="2516292"/>
            <a:ext cx="1498459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Analytical cohort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n = 12,045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1E060CE-286A-9D47-BB6E-F46B2F18E76C}"/>
              </a:ext>
            </a:extLst>
          </p:cNvPr>
          <p:cNvCxnSpPr>
            <a:cxnSpLocks/>
          </p:cNvCxnSpPr>
          <p:nvPr/>
        </p:nvCxnSpPr>
        <p:spPr>
          <a:xfrm>
            <a:off x="6283135" y="1983196"/>
            <a:ext cx="0" cy="533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71B773A-69B7-724A-85DA-1809723B4172}"/>
              </a:ext>
            </a:extLst>
          </p:cNvPr>
          <p:cNvCxnSpPr>
            <a:cxnSpLocks/>
          </p:cNvCxnSpPr>
          <p:nvPr/>
        </p:nvCxnSpPr>
        <p:spPr>
          <a:xfrm>
            <a:off x="6283135" y="2960170"/>
            <a:ext cx="0" cy="546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0CDC94E-3352-7248-861C-FF6C3160B0B9}"/>
              </a:ext>
            </a:extLst>
          </p:cNvPr>
          <p:cNvCxnSpPr>
            <a:cxnSpLocks/>
          </p:cNvCxnSpPr>
          <p:nvPr/>
        </p:nvCxnSpPr>
        <p:spPr>
          <a:xfrm flipH="1">
            <a:off x="4956374" y="3519248"/>
            <a:ext cx="1337315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F6FAD96-4E4B-0B4C-8D82-E4C1F8A38175}"/>
              </a:ext>
            </a:extLst>
          </p:cNvPr>
          <p:cNvCxnSpPr/>
          <p:nvPr/>
        </p:nvCxnSpPr>
        <p:spPr>
          <a:xfrm>
            <a:off x="6293689" y="3519248"/>
            <a:ext cx="0" cy="546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8D31D8D2-52F6-1148-B3D1-84D77A0FA8CE}"/>
              </a:ext>
            </a:extLst>
          </p:cNvPr>
          <p:cNvSpPr txBox="1"/>
          <p:nvPr/>
        </p:nvSpPr>
        <p:spPr>
          <a:xfrm>
            <a:off x="3457915" y="3206175"/>
            <a:ext cx="1498462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Eligible for high-feature dataset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n = 3986 (33.1%)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C3DD98-9876-F541-9FCB-F7F8302069B6}"/>
              </a:ext>
            </a:extLst>
          </p:cNvPr>
          <p:cNvSpPr txBox="1"/>
          <p:nvPr/>
        </p:nvSpPr>
        <p:spPr>
          <a:xfrm>
            <a:off x="5544459" y="4062112"/>
            <a:ext cx="1498459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Low-feature dataset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n = 12,045 (100%)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FFE4D5B-6A79-D14C-A297-294201A897AD}"/>
              </a:ext>
            </a:extLst>
          </p:cNvPr>
          <p:cNvCxnSpPr>
            <a:cxnSpLocks/>
          </p:cNvCxnSpPr>
          <p:nvPr/>
        </p:nvCxnSpPr>
        <p:spPr>
          <a:xfrm>
            <a:off x="6297229" y="2114000"/>
            <a:ext cx="219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87603BF-5120-7D41-94D1-8F0AD2713EF5}"/>
              </a:ext>
            </a:extLst>
          </p:cNvPr>
          <p:cNvSpPr txBox="1"/>
          <p:nvPr/>
        </p:nvSpPr>
        <p:spPr>
          <a:xfrm>
            <a:off x="8493218" y="1560002"/>
            <a:ext cx="1996691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Exclude patients with a history of hyperthyroidism or hypopituitarism (n = 763)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B82D2E-D4FB-9A4B-80F1-FB9565B0FE2D}"/>
              </a:ext>
            </a:extLst>
          </p:cNvPr>
          <p:cNvSpPr txBox="1"/>
          <p:nvPr/>
        </p:nvSpPr>
        <p:spPr>
          <a:xfrm>
            <a:off x="8493218" y="2846935"/>
            <a:ext cx="1996702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Additional exclusion of co-medications related to hyperthyroidism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(e.g., MMI and PTU) (n = 34)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6B3AFF35-963F-FBC0-C256-4395DB673392}"/>
              </a:ext>
            </a:extLst>
          </p:cNvPr>
          <p:cNvCxnSpPr>
            <a:cxnSpLocks/>
          </p:cNvCxnSpPr>
          <p:nvPr/>
        </p:nvCxnSpPr>
        <p:spPr>
          <a:xfrm>
            <a:off x="6297229" y="2313227"/>
            <a:ext cx="2195989" cy="906718"/>
          </a:xfrm>
          <a:prstGeom prst="bentConnector3">
            <a:avLst>
              <a:gd name="adj1" fmla="val 7322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3CAB4D5-AF98-F1ED-11CF-29473CBD092C}"/>
              </a:ext>
            </a:extLst>
          </p:cNvPr>
          <p:cNvSpPr txBox="1"/>
          <p:nvPr/>
        </p:nvSpPr>
        <p:spPr>
          <a:xfrm>
            <a:off x="5118834" y="3150244"/>
            <a:ext cx="1032636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000" i="1" dirty="0">
                <a:latin typeface="Arial" panose="020B0604020202020204" pitchFamily="34" charset="0"/>
                <a:cs typeface="Arial" panose="020B0604020202020204" pitchFamily="34" charset="0"/>
              </a:rPr>
              <a:t>Complete vitals and labs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2CB16FC-2AE8-FE37-B42B-3A3F066C9527}"/>
              </a:ext>
            </a:extLst>
          </p:cNvPr>
          <p:cNvCxnSpPr>
            <a:cxnSpLocks/>
            <a:endCxn id="41" idx="0"/>
          </p:cNvCxnSpPr>
          <p:nvPr/>
        </p:nvCxnSpPr>
        <p:spPr>
          <a:xfrm flipH="1">
            <a:off x="4207146" y="3806338"/>
            <a:ext cx="0" cy="797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FB60E5F-B032-2338-B742-188265B4851E}"/>
              </a:ext>
            </a:extLst>
          </p:cNvPr>
          <p:cNvSpPr txBox="1"/>
          <p:nvPr/>
        </p:nvSpPr>
        <p:spPr>
          <a:xfrm>
            <a:off x="3457915" y="4603976"/>
            <a:ext cx="1498462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High-feature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(main) dataset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n = 3977 (33.0%)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752E2AC-FB55-FD0C-F679-F01A6C681A72}"/>
              </a:ext>
            </a:extLst>
          </p:cNvPr>
          <p:cNvCxnSpPr>
            <a:cxnSpLocks/>
          </p:cNvCxnSpPr>
          <p:nvPr/>
        </p:nvCxnSpPr>
        <p:spPr>
          <a:xfrm flipH="1">
            <a:off x="3253014" y="4062112"/>
            <a:ext cx="954132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AD13C5D-56C7-29E5-E622-EAF54B9AA795}"/>
              </a:ext>
            </a:extLst>
          </p:cNvPr>
          <p:cNvSpPr txBox="1"/>
          <p:nvPr/>
        </p:nvSpPr>
        <p:spPr>
          <a:xfrm>
            <a:off x="1497206" y="3779299"/>
            <a:ext cx="1755807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Excluded labs and/or vitals after clinical review</a:t>
            </a:r>
          </a:p>
          <a:p>
            <a:pPr algn="ct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 = 9)</a:t>
            </a:r>
          </a:p>
        </p:txBody>
      </p:sp>
    </p:spTree>
    <p:extLst>
      <p:ext uri="{BB962C8B-B14F-4D97-AF65-F5344CB8AC3E}">
        <p14:creationId xmlns:p14="http://schemas.microsoft.com/office/powerpoint/2010/main" val="3377402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_2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28" y="708660"/>
            <a:ext cx="12194628" cy="544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871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_3_SHAP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756" y="0"/>
            <a:ext cx="35884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640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igure_4_SHAP_beeswa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0"/>
            <a:ext cx="342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685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uppFig3_reduc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039" y="0"/>
            <a:ext cx="3403922" cy="680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519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uppFig4_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0"/>
            <a:ext cx="342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714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uppFig5A_rec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0"/>
            <a:ext cx="342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207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uppFig5B_dist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0"/>
            <a:ext cx="342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580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1599</TotalTime>
  <Words>165</Words>
  <Application>Microsoft Macintosh PowerPoint</Application>
  <PresentationFormat>Widescreen</PresentationFormat>
  <Paragraphs>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Ettleson</dc:creator>
  <cp:lastModifiedBy>Matt Ettleson</cp:lastModifiedBy>
  <cp:revision>1</cp:revision>
  <dcterms:created xsi:type="dcterms:W3CDTF">2026-08-03T16:28:23Z</dcterms:created>
  <dcterms:modified xsi:type="dcterms:W3CDTF">2026-10-06T18:48:24Z</dcterms:modified>
</cp:coreProperties>
</file>